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343B"/>
                </a:solidFill>
                <a:latin typeface="Trebuchet MS"/>
              </a:defRPr>
            </a:pPr>
            <a:r>
              <a:rPr lang="de-AT" sz="1400" b="0" i="0" u="none" strike="noStrike">
                <a:solidFill>
                  <a:srgbClr val="16343B"/>
                </a:solidFill>
                <a:latin typeface="Trebuchet MS"/>
              </a:rPr>
              <a:t>Genauigkeit je Dokument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ACME-Rechnung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34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Gemini 3 Flash</c:v>
                </c:pt>
                <c:pt idx="1">
                  <c:v>Gemini 2.5 Flash</c:v>
                </c:pt>
                <c:pt idx="2">
                  <c:v>Pixtral 12B</c:v>
                </c:pt>
                <c:pt idx="3">
                  <c:v>Llama 4 Scout</c:v>
                </c:pt>
                <c:pt idx="4">
                  <c:v>Nemotron Nano VL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97</c:v>
                </c:pt>
                <c:pt idx="2">
                  <c:v>100</c:v>
                </c:pt>
                <c:pt idx="3">
                  <c:v>97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E9-40AF-B078-935DA4D2064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Spar-Beleg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6343B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Gemini 3 Flash</c:v>
                </c:pt>
                <c:pt idx="1">
                  <c:v>Gemini 2.5 Flash</c:v>
                </c:pt>
                <c:pt idx="2">
                  <c:v>Pixtral 12B</c:v>
                </c:pt>
                <c:pt idx="3">
                  <c:v>Llama 4 Scout</c:v>
                </c:pt>
                <c:pt idx="4">
                  <c:v>Nemotron Nano VL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96</c:v>
                </c:pt>
                <c:pt idx="1">
                  <c:v>84</c:v>
                </c:pt>
                <c:pt idx="2">
                  <c:v>46</c:v>
                </c:pt>
                <c:pt idx="3">
                  <c:v>72</c:v>
                </c:pt>
                <c:pt idx="4">
                  <c:v>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E9-40AF-B078-935DA4D206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7B8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C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7B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E7B8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6118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417320"/>
            <a:ext cx="3749040" cy="4023360"/>
          </a:xfrm>
          <a:prstGeom prst="roundRect">
            <a:avLst>
              <a:gd name="adj" fmla="val 1951"/>
            </a:avLst>
          </a:prstGeom>
          <a:solidFill>
            <a:srgbClr val="0F3D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92440" y="1645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/api/extract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092440" y="2057400"/>
            <a:ext cx="3291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"document_type": "invoice",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"vendor": { "name": "ACME …" },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"currency": "EUR",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"tax_breakdown": [ 20%, 10% ],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"total": 174.64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SCHULPROJEKT · MVP · NEXT.JS 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Invoice → JSON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CFE6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KI-Modellvergleich zur automatischen</a:t>
            </a:r>
            <a:endParaRPr lang="en-US" sz="2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CFE6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Rechnungs- und Belegextraktion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49808" y="4343400"/>
            <a:ext cx="457200" cy="457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26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Andreas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Bliem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Lorenz Seybold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FC2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 Juni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HINTERGRUND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manuelle Erfassung von Rechnungen und Belegen ist langsam und fehleranfällig — ein verbreitetes, reales Geschäftsproblem. Moderne KI-Vision-Modelle können Dokumente direkt lesen, unterscheiden sich aber stark in Genauigkeit, Geschwindigkeit und Kosten.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0233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Daraus ergeben sich zwei Fragen: Wie zuverlässig liest ein Modell ein Dokument — und welches Modell wählt man?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46520" y="18745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202996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17556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Langsam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406640" y="215798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Manuelles Abtippen kostet Zeit bei jedem Beleg.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0" y="31089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342900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58444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33101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Fehleranfällig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406640" y="371246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Zahlendreher und vergessene Felder schleichen sich ein.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17920" y="466344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46520" y="498348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1968" y="5138928"/>
            <a:ext cx="420624" cy="4206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406640" y="48646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Modelle unterscheiden sich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7406640" y="5266944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Genauigkeit, Tempo und Kosten variieren erheblich.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ZIELSETZUNG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Projektziel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funktionierender Extraktor — und ein objektives Vergleichs-Framework mit messbarer Ground Truth.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606040"/>
            <a:ext cx="868680" cy="868680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80720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Praktisches Werkzeug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" y="4160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Rechnung oder jeder Beleg (Foto, Scan oder PDF) wird in Sekunden in ein konsistentes, validiertes JSON umgewandelt — ohne Abtippen.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70832" y="22860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0872" y="2606040"/>
            <a:ext cx="868680" cy="868680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80720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Objektiver Vergleich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63440" y="4160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Dasselbe Dokument läuft durch mehrere Modelle. Genauigkeit, Latenz und Tokenverbrauch werden nebeneinander gemessen.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93024" y="2286000"/>
            <a:ext cx="3611880" cy="3383280"/>
          </a:xfrm>
          <a:prstGeom prst="roundRect">
            <a:avLst>
              <a:gd name="adj" fmla="val 2162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13064" y="2606040"/>
            <a:ext cx="868680" cy="868680"/>
          </a:xfrm>
          <a:prstGeom prst="ellipse">
            <a:avLst/>
          </a:prstGeom>
          <a:solidFill>
            <a:srgbClr val="0A2E3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2807208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85632" y="3657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Messbarer Maßstab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485632" y="416052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Beispieldokumente mit bekannt-korrektem JSON erlauben eine feldgenaue Bewertung — „welches Modell ist besser?“ wird zur Zahl.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FUNKTIONSUMFANG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die App macht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69748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402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45059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6000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6E4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Hochladen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22960" y="3840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Drop, Klick oder Einfügen (Strg+V). PNG, JPEG, WebP, PDF — auch mehrere Dateien.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383280" y="182880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83280" y="1828800"/>
            <a:ext cx="269748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Shape 10"/>
          <p:cNvSpPr/>
          <p:nvPr/>
        </p:nvSpPr>
        <p:spPr>
          <a:xfrm>
            <a:off x="3657600" y="22402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912" y="2450592"/>
            <a:ext cx="493776" cy="49377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0640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6E4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365760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Extrahieren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3657600" y="3840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Modell liefert ein strukturiertes JSON, das gegen ein Schema (Zod) validiert wird.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217920" y="182880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1828800"/>
            <a:ext cx="269748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Shape 16"/>
          <p:cNvSpPr/>
          <p:nvPr/>
        </p:nvSpPr>
        <p:spPr>
          <a:xfrm>
            <a:off x="6492240" y="22402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2450592"/>
            <a:ext cx="493776" cy="49377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955280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6E4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23" name="Text 18"/>
          <p:cNvSpPr/>
          <p:nvPr/>
        </p:nvSpPr>
        <p:spPr>
          <a:xfrm>
            <a:off x="649224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Vergleichen</a:t>
            </a:r>
            <a:endParaRPr lang="en-US" sz="1900" dirty="0"/>
          </a:p>
        </p:txBody>
      </p:sp>
      <p:sp>
        <p:nvSpPr>
          <p:cNvPr id="24" name="Text 19"/>
          <p:cNvSpPr/>
          <p:nvPr/>
        </p:nvSpPr>
        <p:spPr>
          <a:xfrm>
            <a:off x="6492240" y="3840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Mehrere Modelle nebeneinander — je mit Latenz und Tokenverbrauch.</a:t>
            </a:r>
            <a:endParaRPr lang="en-US" sz="1350" dirty="0"/>
          </a:p>
        </p:txBody>
      </p:sp>
      <p:sp>
        <p:nvSpPr>
          <p:cNvPr id="25" name="Shape 20"/>
          <p:cNvSpPr/>
          <p:nvPr/>
        </p:nvSpPr>
        <p:spPr>
          <a:xfrm>
            <a:off x="9052560" y="1828800"/>
            <a:ext cx="2697480" cy="3840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052560" y="1828800"/>
            <a:ext cx="269748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Shape 22"/>
          <p:cNvSpPr/>
          <p:nvPr/>
        </p:nvSpPr>
        <p:spPr>
          <a:xfrm>
            <a:off x="9326880" y="224028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2" y="2450592"/>
            <a:ext cx="493776" cy="49377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789920" y="21945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6E4E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000" dirty="0"/>
          </a:p>
        </p:txBody>
      </p:sp>
      <p:sp>
        <p:nvSpPr>
          <p:cNvPr id="30" name="Text 24"/>
          <p:cNvSpPr/>
          <p:nvPr/>
        </p:nvSpPr>
        <p:spPr>
          <a:xfrm>
            <a:off x="9326880" y="3337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Bewerten</a:t>
            </a:r>
            <a:endParaRPr lang="en-US" sz="1900" dirty="0"/>
          </a:p>
        </p:txBody>
      </p:sp>
      <p:sp>
        <p:nvSpPr>
          <p:cNvPr id="31" name="Text 25"/>
          <p:cNvSpPr/>
          <p:nvPr/>
        </p:nvSpPr>
        <p:spPr>
          <a:xfrm>
            <a:off x="9326880" y="38404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Beispielen mit Ground Truth: Genauigkeit in % plus farbiger Feld-Diff.</a:t>
            </a:r>
            <a:endParaRPr lang="en-US" sz="1350" dirty="0"/>
          </a:p>
        </p:txBody>
      </p:sp>
      <p:sp>
        <p:nvSpPr>
          <p:cNvPr id="32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ARCHITEKTUR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 Next.js-App, Schlüssel bleiben am Server</a:t>
            </a:r>
            <a:endParaRPr lang="en-US" sz="3000" dirty="0"/>
          </a:p>
        </p:txBody>
      </p:sp>
      <p:pic>
        <p:nvPicPr>
          <p:cNvPr id="4" name="Image 0" descr="C:\Users\loren\KIS4\projekt-bb-g2-bliem-seybold\docs\flow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11643"/>
            <a:ext cx="7406640" cy="4166235"/>
          </a:xfrm>
          <a:prstGeom prst="rect">
            <a:avLst/>
          </a:prstGeom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275320" y="1737360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3"/>
          <p:cNvSpPr/>
          <p:nvPr/>
        </p:nvSpPr>
        <p:spPr>
          <a:xfrm>
            <a:off x="854964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 → API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549640" y="20391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Oberfläche sendet die Datei base64-kodiert an POST /api/extract.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75320" y="2852928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6"/>
          <p:cNvSpPr/>
          <p:nvPr/>
        </p:nvSpPr>
        <p:spPr>
          <a:xfrm>
            <a:off x="8549640" y="28072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Adapter-Schicht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49640" y="3154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Route wählt den passenden Provider-Adapter und ruft das Modell.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75320" y="3968496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8549640" y="392277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Validierung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549640" y="427024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Antwort wird geparst und gegen das Zod-Schema geprüft.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75320" y="5084064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2"/>
          <p:cNvSpPr/>
          <p:nvPr/>
        </p:nvSpPr>
        <p:spPr>
          <a:xfrm>
            <a:off x="8549640" y="50383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Schlüssel-Sicherheit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549640" y="5385816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API-Keys liegen ausschließlich serverseitig — der Browser sieht sie nie.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ARCHITEKTONISCHES HERZSTÜCK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Modell-Abstraktionsschicht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48132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Provider implementiert dieselbe winzige Schnittstelle. Der Rest der App weiß nicht, welches Modell lief.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5852160" cy="3291840"/>
          </a:xfrm>
          <a:prstGeom prst="roundRect">
            <a:avLst>
              <a:gd name="adj" fmla="val 1667"/>
            </a:avLst>
          </a:prstGeom>
          <a:solidFill>
            <a:srgbClr val="0A2E36"/>
          </a:solidFill>
          <a:ln/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2542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lib/providers/types.ts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88036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Provider = {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run(input, modelId): Promise&lt;{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rawText: string;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tokens: TokenUsage;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latencyMs: number;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}&gt;;</a:t>
            </a:r>
            <a:endParaRPr lang="en-US" sz="15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720840" y="246888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949440" y="25877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Eine Registry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949440" y="29077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lib/providers/registry.ts bildet stabile IDs auf Adapter ab.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720840" y="356616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949440" y="368503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Ein-Zeilen-Erweiterung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949440" y="40050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neues Modell hinzufügen = ein Eintrag in der Registry, keine UI-Änderung.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720840" y="4663440"/>
            <a:ext cx="4892040" cy="960120"/>
          </a:xfrm>
          <a:prstGeom prst="roundRect">
            <a:avLst>
              <a:gd name="adj" fmla="val 7619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49440" y="47823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Automatische Verfügbarkeit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949440" y="510235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der API-Schlüssel gesetzt, erscheint das Modell auswählbar (available: true).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DATENMODELL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JSON-Schema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126480" cy="4526280"/>
          </a:xfrm>
          <a:prstGeom prst="roundRect">
            <a:avLst>
              <a:gd name="adj" fmla="val 1212"/>
            </a:avLst>
          </a:prstGeom>
          <a:solidFill>
            <a:srgbClr val="0A2E36"/>
          </a:solidFill>
          <a:ln/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19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lib/schema.ts  (Zod)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5760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"document_type": "invoice" | "receipt" | null,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"vendor": { name, address, tax_id },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"invoice_number": string | null,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"issue_date": "YYYY-MM-DD" | null,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"due_date": "YYYY-MM-DD" | null,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"currency": "EUR" | null,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"line_items": [ { description, quantity,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unit_price, amount } ],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"subtotal": number | null,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"tax_breakdown": [ { rate, base, amount } ],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"tax_total": number | null,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"total": number | null,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"notes": string | null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949440" y="160020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82880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1812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 Schema für beides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818120" y="21671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jedes Feld ist nullable — dieselbe Struktur passt für formale Rechnung und Kassenbeleg.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949440" y="315468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33832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1812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Mehrere Steuersätze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818120" y="37216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tax_breakdown ist ein Array, sodass z. B. 20 % und 10 % getrennt erhalten bleiben.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949440" y="4709160"/>
            <a:ext cx="4663440" cy="1417320"/>
          </a:xfrm>
          <a:prstGeom prst="roundRect">
            <a:avLst>
              <a:gd name="adj" fmla="val 5161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4937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818120" y="4892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Zod-validiert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7818120" y="527608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Modellausgabe wird gegen das Schema geprüft, bevor sie angezeigt oder bewertet wird.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VERFAHREN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Wie die Extraktion funktioniert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1325880"/>
          </a:xfrm>
          <a:prstGeom prst="roundRect">
            <a:avLst>
              <a:gd name="adj" fmla="val 5517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48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Faire Bedingungen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691640" y="225856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Modell erhält dasselbe Bild und denselben Prompt, bei Temperatur 0 — Unterschiede stammen vom Modell, nicht vom Zufall.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6766560" cy="1325880"/>
          </a:xfrm>
          <a:prstGeom prst="roundRect">
            <a:avLst>
              <a:gd name="adj" fmla="val 5517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347472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1188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3558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Parsen &amp; Säubern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691640" y="37216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Antwort wird geparst, Code-Fences (```) werden entfernt, dann gegen das Zod-Schema validiert.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617720"/>
            <a:ext cx="6766560" cy="1325880"/>
          </a:xfrm>
          <a:prstGeom prst="roundRect">
            <a:avLst>
              <a:gd name="adj" fmla="val 5517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93776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4E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0749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8188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Robuste Fehlerbehandlung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691640" y="518464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 eines Modells werden pro Modell erfasst (ok:false) — die App stürzt nie ab, HTTP bleibt 200.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635240" y="1691640"/>
            <a:ext cx="3977640" cy="4069080"/>
          </a:xfrm>
          <a:prstGeom prst="roundRect">
            <a:avLst>
              <a:gd name="adj" fmla="val 1379"/>
            </a:avLst>
          </a:prstGeom>
          <a:solidFill>
            <a:srgbClr val="0A2E36"/>
          </a:solidFill>
          <a:ln/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7863840" y="18470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863840" y="2286000"/>
            <a:ext cx="36118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Bild + Prompt   (temp 0)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▼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Modell-Adapter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▼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rawText → Fences strippen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▼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JSON.parse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▼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Zod-Validierung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▼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ExtractionResult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data, tokens,</a:t>
            </a:r>
            <a:endParaRPr lang="en-US" sz="130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latencyMs, error }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VERTRAUENS-METHODE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Wie wir Qualität messen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Vorhersage und Ground Truth werden in Blattfelder „aufgeflacht“ — inkl. jeder Positions- und Steuerzeile — und Feld für Feld verglichen.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E7F5EC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Werte gleich (Zahlen ±0,01; Strings normalisiert; null == null)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224028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BEAEA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45152" y="29718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vorhanden, aber verschieden — oder erfundener Wert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93024" y="2240280"/>
            <a:ext cx="3611880" cy="1691640"/>
          </a:xfrm>
          <a:prstGeom prst="roundRect">
            <a:avLst>
              <a:gd name="adj" fmla="val 3243"/>
            </a:avLst>
          </a:prstGeom>
          <a:solidFill>
            <a:srgbClr val="FBF0DE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67344" y="2423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467344" y="29718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hat einen Wert, das Modell lieferte null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7360920" cy="1280160"/>
          </a:xfrm>
          <a:prstGeom prst="roundRect">
            <a:avLst>
              <a:gd name="adj" fmla="val 4286"/>
            </a:avLst>
          </a:prstGeom>
          <a:solidFill>
            <a:srgbClr val="0A2E36"/>
          </a:solidFill>
          <a:ln/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709160"/>
            <a:ext cx="502920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554480" y="44348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Genauigkeit  =  Treffer / Gesamtzahl der Felder</a:t>
            </a:r>
            <a:endParaRPr lang="en-US" sz="1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FC2C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notes ist freitextlich und wird bewusst nicht bewertet.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8092440" y="425196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21040" y="43891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Bewusst einfach und erklärbar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21040" y="4754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dasselbe Verfahren liefert die Zahlen in den Ergebnis-Tabellen.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DATENGRUNDLAGE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zwei Testdokumente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5" name="Image 0" descr="C:\Users\loren\KIS4\projekt-bb-g2-bliem-seybold\samples\invoice-acme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205990"/>
            <a:ext cx="2468880" cy="3086100"/>
          </a:xfrm>
          <a:prstGeom prst="rect">
            <a:avLst/>
          </a:prstGeom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342900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ACME-Rechnung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42900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Synthetische Rechnung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29000" y="265176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Typ: invoice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Positionen: 4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Steuersätze: 20 % + 10 %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Gesamt: 174,64 EUR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bewertete Felder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1F7F8"/>
          </a:solidFill>
          <a:ln w="12700">
            <a:solidFill>
              <a:srgbClr val="D6E4E6"/>
            </a:solidFill>
            <a:prstDash val="solid"/>
          </a:ln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10" name="Image 1" descr="C:\Users\loren\KIS4\projekt-bb-g2-bliem-seybold\samples\Spar_Invoic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947587"/>
            <a:ext cx="2331720" cy="3602907"/>
          </a:xfrm>
          <a:prstGeom prst="rect">
            <a:avLst/>
          </a:prstGeom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pic>
      <p:sp>
        <p:nvSpPr>
          <p:cNvPr id="11" name="Text 7"/>
          <p:cNvSpPr/>
          <p:nvPr/>
        </p:nvSpPr>
        <p:spPr>
          <a:xfrm>
            <a:off x="9098280" y="1828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Spar-Beleg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9098280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Echtes Foto (schwieriger)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098280" y="2651760"/>
            <a:ext cx="2468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Typ: receipt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Positionen: 2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Steuersätze: 10 % + 20 %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Gesamt: 5,68 EUR</a:t>
            </a:r>
            <a:endParaRPr lang="en-US" sz="13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35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bewertete Felder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Ergebnisse — Dokument 1: ACME-Rechnung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Synthetische Rechnung mit zwei Steuersätzen · 33 bewertete Felder · gemessen am 2026-06-20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4114800"/>
        </p:xfrm>
        <a:graphic>
          <a:graphicData uri="http://schemas.openxmlformats.org/drawingml/2006/table">
            <a:tbl>
              <a:tblPr/>
              <a:tblGrid>
                <a:gridCol w="3593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Modell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Genauigkeit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Latenz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Tokens (in+out)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Status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 Flash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(33/33)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10,3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1.973  (1.470+503)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97 % (32/33)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1.161  (655+506)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Pixtral 12B (Mistral)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(33/33)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1.881  (1.432+449)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 Scout (Groq)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97 % (32/33)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2.183  (1.796+387)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 Nano VL (OpenRouter)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Ungültiges 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mini (OpenAI)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Kontingent (429)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 (GitHub Models)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Ungültiges 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3.2 11B Vision (Cloudflare)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Auth-Fehler (401)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Flash und Pixtral 12B treffen alle 33 Felder. Drei Modelle lieferten keine verwertbare Ausgabe (siehe Status).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Ergebnisse — Dokument 2: Spar-Beleg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Echtes Belegfoto, geringere Qualität · 25 bewertete Felder · gemessen am 2026-06-20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4114800"/>
        </p:xfrm>
        <a:graphic>
          <a:graphicData uri="http://schemas.openxmlformats.org/drawingml/2006/table">
            <a:tbl>
              <a:tblPr/>
              <a:tblGrid>
                <a:gridCol w="3593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Modell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Genauigkeit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Latenz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Tokens (in+out)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Status</a:t>
                      </a:r>
                      <a:endParaRPr lang="en-US" sz="13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 Flash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96 % (24/25)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1.866  (1.463+403)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84 % (21/25)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1.006  (655+351)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Pixtral 12B (Mistral)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46 % (13/28)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27,0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1.596  (1.216+380)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 Scout (Groq)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72 % (18/25)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1.655  (1.361+294)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Nemotron Nano VL (OpenRouter)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76 % (19/25)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 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2.497  (2.139+358)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mini (OpenAI)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Kontingent (429)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DeepSeek-R1 (GitHub Models)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Ungültiges 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63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3.2 11B Vision (Cloudflare)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5E7B8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Auth-Fehler (401)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schwierigere Foto trennt die Modelle: Gemini 3 Flash bleibt bei 96 %, schwächere Modelle fallen deutlich ab. Pixtral erfand Positionen (Nenner 28).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BEWERTUNG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Wie sehr können wir jedem Modell vertrauen?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" y="1600200"/>
          <a:ext cx="5486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0 % = kein valides JSON bzw. kein erfolgreicher Lauf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6364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Gesamt-Ranking (Ø Genauigkeit · valides JSON · Verdikt)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263640" y="1965960"/>
            <a:ext cx="5440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E4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63640" y="1965960"/>
            <a:ext cx="73152" cy="42062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9" name="Text 6"/>
          <p:cNvSpPr/>
          <p:nvPr/>
        </p:nvSpPr>
        <p:spPr>
          <a:xfrm>
            <a:off x="6382512" y="196596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7B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11696" y="196596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 Flash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015984" y="1965960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98,0 %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784080" y="196596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10314432" y="2121408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4" name="Text 11"/>
          <p:cNvSpPr/>
          <p:nvPr/>
        </p:nvSpPr>
        <p:spPr>
          <a:xfrm>
            <a:off x="10469880" y="196596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Vertrauenswürdig</a:t>
            </a:r>
            <a:endParaRPr lang="en-US" sz="860" dirty="0"/>
          </a:p>
        </p:txBody>
      </p:sp>
      <p:sp>
        <p:nvSpPr>
          <p:cNvPr id="15" name="Shape 12"/>
          <p:cNvSpPr/>
          <p:nvPr/>
        </p:nvSpPr>
        <p:spPr>
          <a:xfrm>
            <a:off x="6263640" y="2450592"/>
            <a:ext cx="5440680" cy="420624"/>
          </a:xfrm>
          <a:prstGeom prst="rect">
            <a:avLst/>
          </a:prstGeom>
          <a:solidFill>
            <a:srgbClr val="F1F7F8"/>
          </a:solidFill>
          <a:ln w="6350">
            <a:solidFill>
              <a:srgbClr val="D6E4E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2450592"/>
            <a:ext cx="73152" cy="420624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7" name="Text 14"/>
          <p:cNvSpPr/>
          <p:nvPr/>
        </p:nvSpPr>
        <p:spPr>
          <a:xfrm>
            <a:off x="6382512" y="2450592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7B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711696" y="24505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015984" y="2450592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90,5 %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784080" y="245059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314432" y="2606040"/>
            <a:ext cx="109728" cy="109728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22" name="Text 19"/>
          <p:cNvSpPr/>
          <p:nvPr/>
        </p:nvSpPr>
        <p:spPr>
          <a:xfrm>
            <a:off x="10469880" y="2450592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Vertrauenswürdig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6263640" y="2935224"/>
            <a:ext cx="5440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E4E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63640" y="2935224"/>
            <a:ext cx="73152" cy="4206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5" name="Text 22"/>
          <p:cNvSpPr/>
          <p:nvPr/>
        </p:nvSpPr>
        <p:spPr>
          <a:xfrm>
            <a:off x="6382512" y="2935224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7B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11696" y="293522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 (Groq)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015984" y="2935224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84,5 %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784080" y="293522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0314432" y="3090672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0" name="Text 27"/>
          <p:cNvSpPr/>
          <p:nvPr/>
        </p:nvSpPr>
        <p:spPr>
          <a:xfrm>
            <a:off x="10469880" y="2935224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Prüfung nutzbar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6263640" y="3419856"/>
            <a:ext cx="5440680" cy="420624"/>
          </a:xfrm>
          <a:prstGeom prst="rect">
            <a:avLst/>
          </a:prstGeom>
          <a:solidFill>
            <a:srgbClr val="F1F7F8"/>
          </a:solidFill>
          <a:ln w="6350">
            <a:solidFill>
              <a:srgbClr val="D6E4E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263640" y="3419856"/>
            <a:ext cx="73152" cy="42062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3" name="Text 30"/>
          <p:cNvSpPr/>
          <p:nvPr/>
        </p:nvSpPr>
        <p:spPr>
          <a:xfrm>
            <a:off x="6382512" y="3419856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7B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711696" y="341985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Pixtral 12B (Mistral)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9015984" y="3419856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73,2 %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9784080" y="341985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10314432" y="3575304"/>
            <a:ext cx="109728" cy="109728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38" name="Text 35"/>
          <p:cNvSpPr/>
          <p:nvPr/>
        </p:nvSpPr>
        <p:spPr>
          <a:xfrm>
            <a:off x="10469880" y="3419856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Prüfung nutzbar</a:t>
            </a:r>
            <a:endParaRPr lang="en-US" sz="860" dirty="0"/>
          </a:p>
        </p:txBody>
      </p:sp>
      <p:sp>
        <p:nvSpPr>
          <p:cNvPr id="39" name="Shape 36"/>
          <p:cNvSpPr/>
          <p:nvPr/>
        </p:nvSpPr>
        <p:spPr>
          <a:xfrm>
            <a:off x="6263640" y="3904488"/>
            <a:ext cx="5440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E4E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263640" y="3904488"/>
            <a:ext cx="73152" cy="42062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1" name="Text 38"/>
          <p:cNvSpPr/>
          <p:nvPr/>
        </p:nvSpPr>
        <p:spPr>
          <a:xfrm>
            <a:off x="6382512" y="3904488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7B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711696" y="390448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Nemotron Nano VL (OpenRouter)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9015984" y="3904488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76,0 %*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9784080" y="390448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10314432" y="4059936"/>
            <a:ext cx="109728" cy="10972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46" name="Text 43"/>
          <p:cNvSpPr/>
          <p:nvPr/>
        </p:nvSpPr>
        <p:spPr>
          <a:xfrm>
            <a:off x="10469880" y="3904488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zuverlässig</a:t>
            </a:r>
            <a:endParaRPr lang="en-US" sz="860" dirty="0"/>
          </a:p>
        </p:txBody>
      </p:sp>
      <p:sp>
        <p:nvSpPr>
          <p:cNvPr id="47" name="Shape 44"/>
          <p:cNvSpPr/>
          <p:nvPr/>
        </p:nvSpPr>
        <p:spPr>
          <a:xfrm>
            <a:off x="6263640" y="4389120"/>
            <a:ext cx="5440680" cy="420624"/>
          </a:xfrm>
          <a:prstGeom prst="rect">
            <a:avLst/>
          </a:prstGeom>
          <a:solidFill>
            <a:srgbClr val="F1F7F8"/>
          </a:solidFill>
          <a:ln w="6350">
            <a:solidFill>
              <a:srgbClr val="D6E4E6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263640" y="4389120"/>
            <a:ext cx="73152" cy="42062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9" name="Text 46"/>
          <p:cNvSpPr/>
          <p:nvPr/>
        </p:nvSpPr>
        <p:spPr>
          <a:xfrm>
            <a:off x="6382512" y="4389120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7B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6711696" y="43891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mini (OpenAI)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9015984" y="4389120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9784080" y="438912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0/2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10314432" y="4544568"/>
            <a:ext cx="109728" cy="10972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4" name="Text 51"/>
          <p:cNvSpPr/>
          <p:nvPr/>
        </p:nvSpPr>
        <p:spPr>
          <a:xfrm>
            <a:off x="10469880" y="438912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bewertbar (Kontingent)</a:t>
            </a:r>
            <a:endParaRPr lang="en-US" sz="860" dirty="0"/>
          </a:p>
        </p:txBody>
      </p:sp>
      <p:sp>
        <p:nvSpPr>
          <p:cNvPr id="55" name="Shape 52"/>
          <p:cNvSpPr/>
          <p:nvPr/>
        </p:nvSpPr>
        <p:spPr>
          <a:xfrm>
            <a:off x="6263640" y="4873752"/>
            <a:ext cx="5440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6E4E6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263640" y="4873752"/>
            <a:ext cx="73152" cy="42062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57" name="Text 54"/>
          <p:cNvSpPr/>
          <p:nvPr/>
        </p:nvSpPr>
        <p:spPr>
          <a:xfrm>
            <a:off x="6382512" y="4873752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7B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6711696" y="487375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(GitHub Models)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9015984" y="4873752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0" name="Text 57"/>
          <p:cNvSpPr/>
          <p:nvPr/>
        </p:nvSpPr>
        <p:spPr>
          <a:xfrm>
            <a:off x="9784080" y="487375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0/2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10314432" y="5029200"/>
            <a:ext cx="109728" cy="10972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62" name="Text 59"/>
          <p:cNvSpPr/>
          <p:nvPr/>
        </p:nvSpPr>
        <p:spPr>
          <a:xfrm>
            <a:off x="10469880" y="4873752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zuverlässig (kein JSON)</a:t>
            </a:r>
            <a:endParaRPr lang="en-US" sz="860" dirty="0"/>
          </a:p>
        </p:txBody>
      </p:sp>
      <p:sp>
        <p:nvSpPr>
          <p:cNvPr id="63" name="Shape 60"/>
          <p:cNvSpPr/>
          <p:nvPr/>
        </p:nvSpPr>
        <p:spPr>
          <a:xfrm>
            <a:off x="6263640" y="5358384"/>
            <a:ext cx="5440680" cy="420624"/>
          </a:xfrm>
          <a:prstGeom prst="rect">
            <a:avLst/>
          </a:prstGeom>
          <a:solidFill>
            <a:srgbClr val="F1F7F8"/>
          </a:solidFill>
          <a:ln w="6350">
            <a:solidFill>
              <a:srgbClr val="D6E4E6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263640" y="5358384"/>
            <a:ext cx="73152" cy="420624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5" name="Text 62"/>
          <p:cNvSpPr/>
          <p:nvPr/>
        </p:nvSpPr>
        <p:spPr>
          <a:xfrm>
            <a:off x="6382512" y="5358384"/>
            <a:ext cx="292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E7B8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00" dirty="0"/>
          </a:p>
        </p:txBody>
      </p:sp>
      <p:sp>
        <p:nvSpPr>
          <p:cNvPr id="66" name="Text 63"/>
          <p:cNvSpPr/>
          <p:nvPr/>
        </p:nvSpPr>
        <p:spPr>
          <a:xfrm>
            <a:off x="6711696" y="535838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11B Vision (Cloudflare)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9015984" y="5358384"/>
            <a:ext cx="749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9784080" y="535838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0/2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10314432" y="5513832"/>
            <a:ext cx="109728" cy="109728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70" name="Text 67"/>
          <p:cNvSpPr/>
          <p:nvPr/>
        </p:nvSpPr>
        <p:spPr>
          <a:xfrm>
            <a:off x="10469880" y="5358384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86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bewertbar (Auth 401)</a:t>
            </a:r>
            <a:endParaRPr lang="en-US" sz="860" dirty="0"/>
          </a:p>
        </p:txBody>
      </p:sp>
      <p:sp>
        <p:nvSpPr>
          <p:cNvPr id="71" name="Text 68"/>
          <p:cNvSpPr/>
          <p:nvPr/>
        </p:nvSpPr>
        <p:spPr>
          <a:xfrm>
            <a:off x="6263640" y="588873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Nemotron lieferte nur am Beleg valides JSON (an der Rechnung ungültig) — daher 1/2.   Einzige „Fehlbewertung“ bei Gemini 3 am Beleg: Marke „SPAR“ vs. Franchise-Name „SPAR Mühlbacher Manfred“ — eine Label-Ambiguität, kein echter Modellfehler.</a:t>
            </a:r>
            <a:endParaRPr lang="en-US" sz="950" dirty="0"/>
          </a:p>
        </p:txBody>
      </p:sp>
      <p:sp>
        <p:nvSpPr>
          <p:cNvPr id="72" name="Text 6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Limitierungen &amp; Ausblick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91C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Limitierungen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73152" cy="9601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Rate-Limits der Free-Tiers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395728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429/503 sind häufig; GPT-4o mini fiel durch erschöpftes Kontingent aus, Cloudflare durch einen Auth-Fehler.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73152" cy="9601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2186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Nur Bild bei vielen Adaptern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602736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OpenAI/OpenRouter/Mistral/Groq/GitHub/Cloudflare senden nur Bilder; PDFs lesen nur Gemini &amp; Claude.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471416"/>
            <a:ext cx="73152" cy="96012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4256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Einseitige Dokumente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77240" y="4809744"/>
            <a:ext cx="5074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Mehrseitige Dokumente werden derzeit als ein einzelnes Bild behandelt.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508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Ausblick</a:t>
            </a:r>
            <a:endParaRPr lang="en-US" sz="18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029968"/>
            <a:ext cx="457200" cy="457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4944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Eigenes Modell trainieren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6949440" y="239572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samples/-Paare (Bild + JSON) sind ein gelabelter Datensatz — Fine-Tuning ist eine natürliche Erweiterung.</a:t>
            </a:r>
            <a:endParaRPr lang="en-US" sz="13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3236976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9440" y="3218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Mehr Testdaten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949440" y="360273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Belege und Rechnungen erhöhen die Aussagekraft des Benchmarks.</a:t>
            </a:r>
            <a:endParaRPr lang="en-US" sz="13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443984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49440" y="44256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Kosten-/Latenz-Dashboard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949440" y="480974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und Laufzeit über viele Läufe visualisieren.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571500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0A2E36"/>
          </a:solidFill>
          <a:ln/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925312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57150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Fazit: Auf messbarer Basis ist Gemini 3 Flash das vertrauenswürdigste Modell (98,0 % Ø, 2/2 valides JSON) — Gemini 2.5 Flash folgt als schnellere Alternative.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ANHANG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Beispiel-Diff: Gemini 3 Flash am Spar-Beleg</a:t>
            </a:r>
            <a:endParaRPr lang="en-US" sz="3000" dirty="0"/>
          </a:p>
        </p:txBody>
      </p:sp>
      <p:pic>
        <p:nvPicPr>
          <p:cNvPr id="4" name="Image 0" descr="C:\Users\loren\KIS4\projekt-bb-g2-bliem-seybold\samples\Spar_Invo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75403"/>
            <a:ext cx="2743200" cy="4238714"/>
          </a:xfrm>
          <a:prstGeom prst="rect">
            <a:avLst/>
          </a:prstGeom>
          <a:effectLst>
            <a:outerShdw blurRad="88900" dist="38100" dir="8100000" algn="bl" rotWithShape="0">
              <a:srgbClr val="0A2E36">
                <a:alpha val="16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657600" y="15544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34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Ergebnis: 96 % (24/25 Felder), 7,1 s, 1.866 Tokens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0" y="2057400"/>
          <a:ext cx="7982712" cy="3291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Feld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Erwartet (Ground Truth)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Modell-Ausgabe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Status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vendor.name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SPAR MÜHLBACHER Manfred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91C1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wrong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5.68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5.68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match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tax_total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0.61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match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currency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EUR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EUR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match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tax_breakdown[0].rate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match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tax_breakdown[1].rate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match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line_items[0].description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ALMDUDLER 0,5L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34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ALMDUDLER 0,5L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5803D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match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3657600" y="5760720"/>
            <a:ext cx="7982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einzige Abweichung ist der Händlername: Marke „SPAR“ (Ground Truth) vs. der auf dem Beleg gedruckte Franchise-Nehmer. Eine Label-Ambiguität — kein eigentlicher Lesefehler. (Auswahl repräsentativer Treffer ergänzt.)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→ JSON · KI-Modellvergleich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1849</Words>
  <Application>Microsoft Office PowerPoint</Application>
  <PresentationFormat>Breitbild</PresentationFormat>
  <Paragraphs>389</Paragraphs>
  <Slides>15</Slides>
  <Notes>15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Invoice → JSON · KI-Modellvergleich</dc:title>
  <dc:subject>PptxGenJS Presentation</dc:subject>
  <dc:creator>Lorenz Seybold</dc:creator>
  <cp:lastModifiedBy>lorenz seybold</cp:lastModifiedBy>
  <cp:revision>2</cp:revision>
  <dcterms:created xsi:type="dcterms:W3CDTF">2026-06-20T11:25:31Z</dcterms:created>
  <dcterms:modified xsi:type="dcterms:W3CDTF">2026-06-20T11:33:01Z</dcterms:modified>
</cp:coreProperties>
</file>